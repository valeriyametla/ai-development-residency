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Tagline A chosen. Descriptor is the approved vision statement, verbatim. Palette: teal = value/Justice Layer, gray = governance, purple = work rungs.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Opens on human risk (vitamin-risk discipline), then the three stat callouts as named-source ranges, then why-now folded in. All figures are ranges with the source cluster named.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personas from locked Audience Segmentation + Positioning. Both are assumptions to validate — that honesty is carried on slide 10 via problem-validation rate, not caveated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Centerpiece. Rung examples for narration: Skills — donor thank-you, or the flagship Governance Co-Pilot. Workflows — Monthly Appeal = draft → plain-language check → review. Agents — 'prep for the board meeting'. Autonomy spine grounded in Anthropic (2024a) workflow-vs-agent distinction.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to slide 4: slide 4 = structure, slide 5 = motion. Steps 2↔3 (Run a Skill → registry becomes living policy) are the compounding engine — the 'living governance' mechanism shown, not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Differentiation = the claim; slide 7 = the proof. Justice Layer is Tier 2 OF the library (no double-count), marked at MMP. Barrier noted in spec: 'fairness is subjective' — handled by research + validation + community co-design, kept off this slide intentionally.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slide. Matrix verbatim from Competitive Analysis. Marks shape-encoded (full/half/ring) so the gap reads without color. Our row is the only full row; no competitor holds &gt;2.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Highest sourcing-risk slide. Every figure a range with firm named. Addressable slice named as the intersection with NO invented TAM. Honest-risk line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Ship-status via the ladder callback: solid = MVP (rungs 1–2), dashed = roadmap (next/later), Justice Layer at MMP. Consistent with slides 4 and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slide answers 'show trust, don't claim it' and pays off slide 3's deferred persona caveat (problem-validation rate). Leading = pre-launch/measurable now; lagging = post-launch. Kept typographic to protect the deck's four-graphic spine.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ends on vision + the one thing to validate (not a fundraise). On-slide positioning line is the trimmed version. FULL positioning statement: For small nonprofits accountable for responsible AI, Community AI Workflow Studio is the governed AI workspace that does the work and proves it's safe — the only one that's affordable, labels every output, and builds equity in, unlike governance tools that don't do the work and AI tools that don't govern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4884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AI Workflow Studio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that does the work.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97764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small nonprofits use AI safely and fairly — set your own rules once, run everyday tasks with a safety net, and grow your AI policy just by using it.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Specification  ·  AI Development Residency  ·  Week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AI Workflow Studio   ·   Product Specification · AI Development Residency · Week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Nonprofits run on AI. Almost none govern it.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or comms staffer pastes client and donor details into ChatGPT to hit a deadline — and no one checks whether it's accurate, fair, or safe to send.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director is personally accountable for that — with no policy, no visibility into it, no IT, and no time.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~92%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57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nonprofits now use AI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2788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~7–14%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3657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any AI policy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0" y="2788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~9%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3657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ready to use it responsibly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raced ahead of governance — and funders are beginning to require responsible-AI evidence, turning it from optional into expected.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sector is carrying real AI risk alone — and it's a measured gap, not a hunch.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/ policy / readiness figures are ranges synthesized across NTEN–Bridgespan (2026), Virtuous–Fundraising.AI (2026), Faunalytics, and BDO.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AI Workflow Studio   ·   Product Specification · AI Development Residency · Week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carry this risk — neither can fix it alone.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5179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Accountable Leader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9456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 </a:t>
            </a:r>
            <a:pPr algn="l"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non-technical ED or Ops Director at a small nonprofit.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hook for:  </a:t>
            </a:r>
            <a:pPr algn="l"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ethical AI across the whole org.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has:  </a:t>
            </a:r>
            <a:pPr algn="l"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policy, no framework, no IT, no time.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bind:  </a:t>
            </a:r>
            <a:pPr algn="l"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for AI risk she can't see or control.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she needs:  </a:t>
            </a:r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assurance + control — proof she can stand behind.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179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Frontline Doer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19456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 </a:t>
            </a:r>
            <a:pPr algn="l"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Comms, development, or program staff.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Already:  </a:t>
            </a:r>
            <a:pPr algn="l"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daily and informally (shadow AI), often with sensitive data.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has:  </a:t>
            </a:r>
            <a:pPr algn="l"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tell if an output is accurate or safe to send — no safety net.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bind:  </a:t>
            </a:r>
            <a:pPr algn="l"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AI every day with nothing to catch a mistake.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need:  </a:t>
            </a:r>
            <a:pPr algn="l"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with a safety net — confidence in what goes out.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349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buyer-vs-user — both work inside the same nonprofit. The tool has to serve the person accountable for the risk and the person creating it, at once.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AI Workflow Studio   ·   Product Specification · AI Development Residency · Week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from you-do-it to AI-does-it — governed the whole way.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AI Workflow Studio is a governance-first platform that does the work. Set your rules once; every task runs inside them; and climb from doing it yourself to delegating — at the pace you trust.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5760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“Agent” doesn't mean “more automated.”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means the AI picks the steps — that's why it comes last and needs the most trust. Governance holds constant across all four rungs.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95160" y="1600200"/>
            <a:ext cx="4709160" cy="603504"/>
          </a:xfrm>
          <a:prstGeom prst="roundRect">
            <a:avLst>
              <a:gd name="adj" fmla="val 9091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16642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92938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picks the path — inside your policy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7556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95160" y="2331720"/>
            <a:ext cx="4709160" cy="603504"/>
          </a:xfrm>
          <a:prstGeom prst="roundRect">
            <a:avLst>
              <a:gd name="adj" fmla="val 9091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78040" y="23957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66090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you set once — same every time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4871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95160" y="3063240"/>
            <a:ext cx="4709160" cy="603504"/>
          </a:xfrm>
          <a:prstGeom prst="roundRect">
            <a:avLst>
              <a:gd name="adj" fmla="val 9091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78040" y="31272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339242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trigger one governed task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2186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3840480"/>
            <a:ext cx="5120640" cy="676656"/>
          </a:xfrm>
          <a:prstGeom prst="roundRect">
            <a:avLst>
              <a:gd name="adj" fmla="val 8108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— the foundation every rung inherits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42245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in ~5 min · grows as you use it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1216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autonomy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AI Workflow Studio   ·   Product Specification · AI Development Residency · Week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write a policy first. You grow one by working.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ladder is the roadmap we offer; this loop is how a small nonprofit climbs it — value first, governance as the byproduct.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" y="219456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88920" y="2537460"/>
            <a:ext cx="27432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08960" y="219456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0896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Skill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92040" y="2537460"/>
            <a:ext cx="27432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12080" y="219456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grows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95160" y="2537460"/>
            <a:ext cx="27432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15200" y="219456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98280" y="2537460"/>
            <a:ext cx="27432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18320" y="219456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80760" y="2880360"/>
            <a:ext cx="0" cy="50292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77640" y="3383280"/>
            <a:ext cx="210312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77640" y="2880360"/>
            <a:ext cx="0" cy="50292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  <a:head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520440" y="3429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compounds the policy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114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engine: </a:t>
            </a:r>
            <a:pPr algn="l"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you run feeds the registry, and the registry governs the next task better. That tight loop is what makes governance living — not a document that sits unread.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writes governance up front. The registry of real use is the policy — it accrues from decisions you've already made.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policy-first is the ladder's weakness — nobody writes policy before getting value. Task-first flips it: useful work on day one, a real AI policy over time.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AI Workflow Studio   ·   Product Specification · AI Development Residency · Week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do the work or govern it. We fuse both — then go past compliance to fairness.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5760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Fused, not split.</a:t>
            </a: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splits into two camps that never meet — tools that do the work (no governance) and tools that govern (don't do the work, enterprise-priced). We're the only one that does both, affordably.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two-tier standards library — the moat.</a:t>
            </a: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 baseline, plus the Justice Layer that goes beyond it to fairness. No competitor offers the second tier.</a:t>
            </a:r>
            <a:endParaRPr lang="en-US" sz="15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Trust you can see, not take on faith.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on every output · human-final-say · a living registry. Mechanisms, not adjectives.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compliance → fairness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0" y="196596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12280" y="2148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Justice Layer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25420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co-designed equity + trauma-informed checks  (at MMP)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324612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12280" y="3429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Compliance baseline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3822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· EU AI Act · ISO 42001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Org-owned and exportable, no lock-in — and a hard refusal to score, rank, or predict about people.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AI Workflow Studio   ·   Product Specification · AI Development Residency · Week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holds more than two of our five.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36192"/>
                <a:gridCol w="1536192"/>
                <a:gridCol w="1536192"/>
                <a:gridCol w="1536192"/>
                <a:gridCol w="15361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b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b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b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b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Justice 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b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for Nonprofits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0" marT="0" marB="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Credo 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0" marT="0" marB="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 Institute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0" marT="0" marB="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0" marT="0" marB="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TechSoup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0" marT="0" marB="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GivingTuesday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0" marT="0" marB="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AI Workflow Studio (us)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00" marR="0" marT="0" marB="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321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 ● full    ◐ partial    ○ none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camps that never meet — tools that do the work but don't govern it, and tools that govern but don't do the work. We're the only full row: accessible, living, governed AI that does the work, with equity built in.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AI Workflow Studio   ·   Product Specification · AI Development Residency · Week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sit at the intersection of four big, fast-moving markets.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38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rail · CAGR ~35–45%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911096"/>
            <a:ext cx="1280160" cy="0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" y="2505456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5786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 software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895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buyer · ~$5–15B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2862072"/>
            <a:ext cx="1280160" cy="0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3456432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5295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· ~$47–185B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3813048"/>
            <a:ext cx="1280160" cy="0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4407408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480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791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· CAGR ~40–44%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34840" y="4764024"/>
            <a:ext cx="1280160" cy="0"/>
          </a:xfrm>
          <a:prstGeom prst="line">
            <a:avLst/>
          </a:prstGeom>
          <a:noFill/>
          <a:ln w="15875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760720" y="2103120"/>
            <a:ext cx="5029200" cy="2377440"/>
          </a:xfrm>
          <a:prstGeom prst="roundRect">
            <a:avLst>
              <a:gd name="adj" fmla="val 3077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0" y="2377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slice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29718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that does the work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under-resourced orgs</a:t>
            </a: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intersection · no single TAM yet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92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proven, not guessed: ~92% of nonprofits use AI; only ~7–14% govern it — a measured gap — and funder pressure is turning governance from nice-to-have into required.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small/mid US nonprofits, English-speaking markets first. Honest risk: this buyer is cash-poor — so the wedge attaches governance to work they already do.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(ranges): The Business Research Company, P&amp;S Intelligence, IMARC (AI governance); Mordor, MRFR (nonprofit software); MarketsandMarkets (generative AI); Fortune Business Insights, Precedence, Deloitte (agentic AI).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AI Workflow Studio   ·   Product Specification · AI Development Residency · Week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ship the full ladder rung by rung — and rung 1–2 is already a whole product.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5669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ships first (rungs 1–2)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the ~5-min seed + the living AI-use registry.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a handful of governed Skills, incl. the Governance Co-Pilot.</a:t>
            </a:r>
            <a:endParaRPr lang="en-US" sz="14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Mechanisms from day one: compliance baseline · provenance · human-final-say · self-critique · funder proof.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 (on the roadmap, not cut)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MMP: the Justice Layer (Tier 2) + community co-design.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3 Workflows, then Rung 4 Agents — bounded autonomy.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69480" y="1737360"/>
            <a:ext cx="44348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7F77D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452360" y="1801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20665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picks the path — inside your policy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18928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69480" y="2468880"/>
            <a:ext cx="44348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7F77DD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7452360" y="2532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7980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you set once — same every time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6243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966960" y="2651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69480" y="3200400"/>
            <a:ext cx="4434840" cy="603504"/>
          </a:xfrm>
          <a:prstGeom prst="roundRect">
            <a:avLst>
              <a:gd name="adj" fmla="val 9091"/>
            </a:avLst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52360" y="32644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352958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tasks · incl. Governance Co-Pilot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3558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96696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first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3977640"/>
            <a:ext cx="4846320" cy="676656"/>
          </a:xfrm>
          <a:prstGeom prst="roundRect">
            <a:avLst>
              <a:gd name="adj" fmla="val 8108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0" y="4069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— ~5-min seed + living registry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3616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in ~5 min · grows as you use it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966960" y="4178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first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1353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autonomy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rests on the first climb: will a small nonprofit complete the seed, then trust and reuse a governed Skill? That's the bet we'd validate — next.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AI Workflow Studio   ·   Product Specification · AI Development Residency · Week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we'd know it's working — one bet, measured.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bet:  </a:t>
            </a:r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a small nonprofit complete the ~5-min seed, then trust and reuse a governed Skill? Activation + Reuse is the whole thing — every rung rests on that first climb.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now — before launch (leading signals)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24612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Problem-validation rate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675888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leaders &amp; staff who confirm they use AI with no policy or safety net — the test that the two audiences are real.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31089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324612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Concept-test signal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675888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who'd complete the seed and reuse a governed Skill (north-star proxy).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3056" y="31089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7648" y="324612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Sensitive-data catch rate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3675888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PII caught before it reaches AI (in testing).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15984" y="31089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80576" y="324612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score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80576" y="3675888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unsafe drafts the self-critique catches before human review.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live (North Star + AARRR):  </a:t>
            </a:r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= Activation + Reuse · Harm prevented (Justice-Layer flags resolved) · Policy growth (new rules from real use) · Retention &amp; trust (active at 90 days).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that does the work.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77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AI workspace that does the work and proves it's safe — affordable, provenance on every output, equity built in.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 under-resourced nonprofit — and the people it serves — can finally use AI with confidence: not just compliantly, but equitably.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480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next:  </a:t>
            </a:r>
            <a:pPr algn="l"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first climb with real nonprofits — do they seed a policy, then trust and reuse a governed Skill? Prove that, and the whole ladder stands.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on rung 1. Climb at the pace you trust.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AI Workflow Studio   ·   Product Specification · AI Development Residency · Week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2026-10-28T05:18:52Z</dcterms:created>
  <dcterms:modified xsi:type="dcterms:W3CDTF">2026-10-28T05:18:52Z</dcterms:modified>
</cp:coreProperties>
</file>